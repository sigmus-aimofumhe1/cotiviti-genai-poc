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embeddedFontLst>
    <p:embeddedFont>
      <p:font typeface="Kanit Light"/>
      <p:regular r:id="rId10"/>
    </p:embeddedFont>
    <p:embeddedFont>
      <p:font typeface="Martel Sans"/>
      <p:regular r:id="rId11"/>
    </p:embeddedFont>
    <p:embeddedFont>
      <p:font typeface="Martel Sans Bold" pitchFamily="2" charset="77"/>
      <p:regular r:id="rId12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3"/>
    <p:restoredTop sz="94631"/>
  </p:normalViewPr>
  <p:slideViewPr>
    <p:cSldViewPr snapToGrid="0" snapToObjects="1">
      <p:cViewPr varScale="1">
        <p:scale>
          <a:sx n="135" d="100"/>
          <a:sy n="135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172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“Hello, my name is Sigmus Aimofumhe. I’m currently pursuing my Master’s in Applied Analytics at Columbia University, and I’m presenting my assessment for the Temporary Intern, GenAI Science position at Cotiviti.</a:t>
            </a:r>
            <a:endParaRPr lang="en-US" dirty="0"/>
          </a:p>
          <a:p>
            <a:r>
              <a:rPr lang="en-US" b="1" dirty="0"/>
              <a:t>The project I built is called the Healthcare Third-Party Organization, or TPO, Claims Anomaly and Pattern Detection Engine.</a:t>
            </a:r>
            <a:endParaRPr lang="en-US" dirty="0"/>
          </a:p>
          <a:p>
            <a:r>
              <a:rPr lang="en-US" b="1" dirty="0"/>
              <a:t>At a high level, it’s a hybrid system that combines machine learning to quickly screen high volumes of healthcare claims with agentic AI to help explain why a claim may be anomalous and what an auditor should look at next.</a:t>
            </a:r>
            <a:endParaRPr lang="en-US" dirty="0"/>
          </a:p>
          <a:p>
            <a:r>
              <a:rPr lang="en-US" b="1" dirty="0"/>
              <a:t>So, I’ll quickly walk through the problem, the architecture, the machine learning considerations, and then the working prototype.”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“To start with the industry context, healthcare payment integrity is increasingly moving from what’s traditionally been called ‘pay-and-chase’—where issues are identified after payment—to more real-time, pre-payment detection.</a:t>
            </a:r>
            <a:endParaRPr lang="en-US" dirty="0"/>
          </a:p>
          <a:p>
            <a:r>
              <a:rPr lang="en-US" b="1" dirty="0"/>
              <a:t>The challenge is that healthcare organizations are processing enormous volumes of claims, and manually reviewing those claims can quickly become a bottleneck. Auditors have limited time, and complex coding and claim histories can also lead to fatigue and inconsistent review.</a:t>
            </a:r>
            <a:endParaRPr lang="en-US" dirty="0"/>
          </a:p>
          <a:p>
            <a:r>
              <a:rPr lang="en-US" b="1" dirty="0"/>
              <a:t>So the opportunity here is to use machine learning to identify the claims that deserve attention earlier, while giving auditors enough context to make that review faster and more effective.”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“So, to address that problem, I designed the system around a two-stage ‘classify-and-explain’ framework.</a:t>
            </a:r>
            <a:endParaRPr lang="en-US" dirty="0"/>
          </a:p>
          <a:p>
            <a:r>
              <a:rPr lang="en-US" b="1" dirty="0"/>
              <a:t>The first stage is predictive screening. Here, a gradient-boosted classifier evaluates claims at high throughput and produces a risk score. The idea is that this stage can quickly process a very large number of claims and separate the claims that look relatively normal from the ones that need a closer look.</a:t>
            </a:r>
            <a:endParaRPr lang="en-US" dirty="0"/>
          </a:p>
          <a:p>
            <a:r>
              <a:rPr lang="en-US" b="1" dirty="0"/>
              <a:t>Then we have Stage 2, which is the agentic decision-support layer. This only activates when a claim crosses a defined risk threshold. Instead of just saying that a claim is high-risk, it provides an explainable, audit-ready rationale for why it was flagged.</a:t>
            </a:r>
            <a:endParaRPr lang="en-US" dirty="0"/>
          </a:p>
          <a:p>
            <a:r>
              <a:rPr lang="en-US" b="1" dirty="0"/>
              <a:t>And importantly, this remains human-in-the-loop. The system supports the medical auditor; it doesn't make the final adjudication decision.”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“There were also three important machine learning challenges I had to account for.</a:t>
            </a:r>
            <a:endParaRPr lang="en-US" dirty="0"/>
          </a:p>
          <a:p>
            <a:r>
              <a:rPr lang="en-US" b="1" dirty="0"/>
              <a:t>First is class imbalance. With anomalies representing less than one percent of the data, accuracy alone can be very misleading. So I used SMOTE-ENN sampling and focused evaluation on metrics like F2-score and PR-AUC, which are more useful for this type of problem.</a:t>
            </a:r>
            <a:endParaRPr lang="en-US" dirty="0"/>
          </a:p>
          <a:p>
            <a:r>
              <a:rPr lang="en-US" b="1" dirty="0"/>
              <a:t>Second is false-positive calibration. Because too many alerts can overwhelm an audit team, I included interactive thresholding so the sensitivity of the system can be adjusted based on operational needs.</a:t>
            </a:r>
            <a:endParaRPr lang="en-US" dirty="0"/>
          </a:p>
          <a:p>
            <a:r>
              <a:rPr lang="en-US" b="1" dirty="0"/>
              <a:t>And third is concept drift. Healthcare coding patterns and policies can change over time, so the </a:t>
            </a:r>
            <a:r>
              <a:rPr lang="en-US" b="1" dirty="0" err="1"/>
              <a:t>MLOps</a:t>
            </a:r>
            <a:r>
              <a:rPr lang="en-US" b="1" dirty="0"/>
              <a:t> layer monitors feature shifts—such as changes in CPT-code patterns—and can trigger retraining when necessary.”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41D23-2EE9-841B-866C-E396CE8A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1E520-FC87-F481-534E-5EA7AA297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979BA-BD11-0BF7-9A2E-C32A7DA1E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“Now I’ll show you the working prototype.</a:t>
            </a:r>
            <a:endParaRPr lang="en-US" dirty="0"/>
          </a:p>
          <a:p>
            <a:r>
              <a:rPr lang="en-US" b="1" dirty="0"/>
              <a:t>This is the </a:t>
            </a:r>
            <a:r>
              <a:rPr lang="en-US" b="1" dirty="0" err="1"/>
              <a:t>Streamlit</a:t>
            </a:r>
            <a:r>
              <a:rPr lang="en-US" b="1" dirty="0"/>
              <a:t> application, and the first thing we have is the input layer. On the left, I can select an individual claim record, and the application pulls in the relevant attributes—things like the CPT code, billed amount, modifier information, and prior denial history.</a:t>
            </a:r>
            <a:endParaRPr lang="en-US" dirty="0"/>
          </a:p>
          <a:p>
            <a:r>
              <a:rPr lang="en-US" b="1" dirty="0"/>
              <a:t>Once the claim is selected, Stage 1 evaluates it and produces a risk score. So, for example, with this claim, the model is essentially saying that there isn't enough evidence of an anomaly, so it can be cleared for payment.</a:t>
            </a:r>
            <a:endParaRPr lang="en-US" dirty="0"/>
          </a:p>
          <a:p>
            <a:r>
              <a:rPr lang="en-US" b="1" dirty="0"/>
              <a:t>What’s useful here is that the decision boundary isn't fixed. I can adjust the threshold in real time. So if I'm an auditor dealing with a higher-risk environment and I want the system to be more sensitive, I can lower that threshold and surface more claims for review.</a:t>
            </a:r>
            <a:endParaRPr lang="en-US" dirty="0"/>
          </a:p>
          <a:p>
            <a:r>
              <a:rPr lang="en-US" b="1" dirty="0"/>
              <a:t>Now, if I select a higher-risk claim, we can see the second stage come into play. Instead of simply telling me that the claim is anomalous, the system provides a rationale for the decision and highlights the factors contributing to that risk.</a:t>
            </a:r>
            <a:endParaRPr lang="en-US" dirty="0"/>
          </a:p>
          <a:p>
            <a:r>
              <a:rPr lang="en-US" b="1" dirty="0"/>
              <a:t>And on the right, I also have the analytics layer—showing feature importance and anomaly patterns across CPT categories. So the auditor gets both the individual claim explanation and the broader context around the data.”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71A2F-5C26-9151-DCA9-EB7C4FCAB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13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“So, stepping back, I designed this system around three things: scalability, explainability, and actionable intelligence.</a:t>
            </a:r>
            <a:endParaRPr lang="en-US" dirty="0"/>
          </a:p>
          <a:p>
            <a:r>
              <a:rPr lang="en-US" b="1" dirty="0"/>
              <a:t>Scalability comes from using high-speed tabular models that can screen large volumes of claims efficiently. Explainability comes from providing transparent, audit-ready reasoning rather than just giving an anomaly score.</a:t>
            </a:r>
            <a:endParaRPr lang="en-US" dirty="0"/>
          </a:p>
          <a:p>
            <a:r>
              <a:rPr lang="en-US" b="1" dirty="0"/>
              <a:t>And ultimately, the goal is actionable intelligence. The system should help answer three simple questions: Is this claim anomalous? Why is it anomalous? And what should the auditor look at next?</a:t>
            </a:r>
            <a:endParaRPr lang="en-US" dirty="0"/>
          </a:p>
          <a:p>
            <a:r>
              <a:rPr lang="en-US" b="1" dirty="0"/>
              <a:t>Thank you for taking the time to review my assessment. I appreciate the opportunity, and I’d be excited to contribute to Cotiviti’s GenAI and payment integrity work.”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26756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Healthcare TPO Claims Anomaly &amp; Pattern Detection Engine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09131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Hybrid Machine Learning Screening and Agentic AI Decision Support System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Sigmus Aimofumhe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· Columbia University · Temp Intern, GenAI Sci · Cotiviti</a:t>
            </a:r>
            <a:endParaRPr lang="en-US" sz="11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70E4AC-D0C6-8499-49D8-9BF76BD9FD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2148" y="4793942"/>
            <a:ext cx="1171852" cy="349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ombating Healthcare Fraud with Autoencoder + GMM Anomaly Detection |  kipi.bi | Explore More">
            <a:extLst>
              <a:ext uri="{FF2B5EF4-FFF2-40B4-BE49-F238E27FC236}">
                <a16:creationId xmlns:a16="http://schemas.microsoft.com/office/drawing/2014/main" id="{C0E61F59-B13D-5058-4D1B-DFEC9056EE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124287" y="574586"/>
            <a:ext cx="3604334" cy="4043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925119" y="396180"/>
            <a:ext cx="1092547" cy="178371"/>
          </a:xfrm>
          <a:prstGeom prst="roundRect">
            <a:avLst>
              <a:gd name="adj" fmla="val 22115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995514" y="431378"/>
            <a:ext cx="1408956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INDUSTRY CONTEXT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25119" y="613395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Evolution of Healthcare Payment Integrity</a:t>
            </a:r>
            <a:endParaRPr lang="en-US" sz="2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92895"/>
            <a:ext cx="4722763" cy="10199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3907" y="1624533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From Post-Payment to Pre-Payment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113907" y="1866230"/>
            <a:ext cx="440233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industry is shifting away from inefficient "pay-and-chase" audits toward real-time anomaly detection during claim adjudication, catching errors before payment is issued.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610073"/>
            <a:ext cx="4722763" cy="10199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13907" y="2741712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High-Volume Claim Bottlenecks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113907" y="2983409"/>
            <a:ext cx="440233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audit teams face strict time constraints and auditor fatigue when reviewing complex claim documentation at scale, creating critical processing delays.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3727252"/>
            <a:ext cx="4722763" cy="10199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13907" y="3858890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Complexity at Scale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113907" y="4100587"/>
            <a:ext cx="440233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Healthcare claims, EHRs, and CPT/ICD coding histories generate massive structured and unstructured datasets requiring multi-layered, intelligent analysis.</a:t>
            </a:r>
            <a:endParaRPr lang="en-US" sz="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8EC3A9-BA6F-EBC7-2626-3BC0A032A1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2148" y="4793942"/>
            <a:ext cx="1171852" cy="349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Healthcare Payment Integrity Solutions – Conduent">
            <a:extLst>
              <a:ext uri="{FF2B5EF4-FFF2-40B4-BE49-F238E27FC236}">
                <a16:creationId xmlns:a16="http://schemas.microsoft.com/office/drawing/2014/main" id="{39F5A6BE-24DB-D9B7-5B9E-83947BD139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r="51905"/>
          <a:stretch>
            <a:fillRect/>
          </a:stretch>
        </p:blipFill>
        <p:spPr>
          <a:xfrm>
            <a:off x="133164" y="730213"/>
            <a:ext cx="3464771" cy="4002212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278"/>
            <a:ext cx="1496690" cy="195114"/>
          </a:xfrm>
          <a:prstGeom prst="roundRect">
            <a:avLst>
              <a:gd name="adj" fmla="val 22125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3137" y="431750"/>
            <a:ext cx="1799853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SOLUTION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34901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Two-Stage "Classify-and-Explain" Framework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686" y="1210940"/>
            <a:ext cx="3266629" cy="2820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2435" y="3268192"/>
            <a:ext cx="1190129" cy="45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Agentic Decision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28092" y="3268192"/>
            <a:ext cx="1190129" cy="45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Predictive Screening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162351"/>
            <a:ext cx="815176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Stage 1 screens claims at high throughput using gradient-boosted classifiers. Stage 2 activates only when risk thresholds are exceeded, delivering explainable, audit-ready rationale: with human-in-the-loop oversight ensuring final adjudication remains with medical auditors.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543C8-F354-18D0-5524-5C99BFEDD1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2148" y="4793942"/>
            <a:ext cx="1171852" cy="349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3388"/>
            <a:ext cx="1144637" cy="178371"/>
          </a:xfrm>
          <a:prstGeom prst="roundRect">
            <a:avLst>
              <a:gd name="adj" fmla="val 22115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514" y="468585"/>
            <a:ext cx="1461046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 GOVERNANCE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50602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Machine Learning Integrity &amp; Technical Challenges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985644" y="1272555"/>
            <a:ext cx="2666926" cy="1054150"/>
          </a:xfrm>
          <a:prstGeom prst="roundRect">
            <a:avLst>
              <a:gd name="adj" fmla="val 4678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07757" y="1394668"/>
            <a:ext cx="24226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Class Imbalance (&lt;1% Anomaly Rate)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07757" y="1675284"/>
            <a:ext cx="2422699" cy="529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Addressed via SMOTE-ENN sampling; evaluation prioritizes </a:t>
            </a:r>
            <a:r>
              <a:rPr lang="en-US" sz="9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F_2</a:t>
            </a: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- score and PR-AUC over raw accuracy.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85644" y="2423889"/>
            <a:ext cx="2666926" cy="1039862"/>
          </a:xfrm>
          <a:prstGeom prst="roundRect">
            <a:avLst>
              <a:gd name="adj" fmla="val 474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07757" y="2546003"/>
            <a:ext cx="24226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False Positive Calibration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07757" y="2826618"/>
            <a:ext cx="242269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Interactive thresholding lets auditors balance precision vs. recall dynamically, reducing alert fatigue.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85644" y="3560936"/>
            <a:ext cx="2666926" cy="1039862"/>
          </a:xfrm>
          <a:prstGeom prst="roundRect">
            <a:avLst>
              <a:gd name="adj" fmla="val 474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07757" y="3683050"/>
            <a:ext cx="24226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Concept Drift Mitigation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07757" y="3963665"/>
            <a:ext cx="242269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MLOps infrastructure tracks feature shifts  (CPT code spikes, policy updates), triggering automated retraining.</a:t>
            </a:r>
            <a:endParaRPr lang="en-US" sz="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A70044-E060-C68F-3DB4-4E3CB4AAFD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2148" y="4793942"/>
            <a:ext cx="1171852" cy="349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n+1 challenges in Machine Learning and how to overcome them">
            <a:extLst>
              <a:ext uri="{FF2B5EF4-FFF2-40B4-BE49-F238E27FC236}">
                <a16:creationId xmlns:a16="http://schemas.microsoft.com/office/drawing/2014/main" id="{0617BDA8-D76A-8426-E934-6C4C9F604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84" y="1394668"/>
            <a:ext cx="5041114" cy="3044968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92237" y="1444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Interactive Streamlit Prototype Walkthrough</a:t>
            </a:r>
            <a:endParaRPr lang="en-US" sz="2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F8EB1A-1A82-9507-F195-B25C3E083C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2148" y="4793942"/>
            <a:ext cx="1171852" cy="349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AE637-EF37-4E25-57CB-40554343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AB7ED0-D608-81A8-71E6-A83DADDD7E99}"/>
              </a:ext>
            </a:extLst>
          </p:cNvPr>
          <p:cNvSpPr/>
          <p:nvPr/>
        </p:nvSpPr>
        <p:spPr>
          <a:xfrm>
            <a:off x="406311" y="252404"/>
            <a:ext cx="1298228" cy="215354"/>
          </a:xfrm>
          <a:prstGeom prst="roundRect">
            <a:avLst>
              <a:gd name="adj" fmla="val 22119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00CB64-8F97-1DEE-82D3-C07A107D7DDD}"/>
              </a:ext>
            </a:extLst>
          </p:cNvPr>
          <p:cNvSpPr/>
          <p:nvPr/>
        </p:nvSpPr>
        <p:spPr>
          <a:xfrm>
            <a:off x="491366" y="294895"/>
            <a:ext cx="158531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PROOF OF CONCEPT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46A215-DBE7-7624-7112-D3268D67F880}"/>
              </a:ext>
            </a:extLst>
          </p:cNvPr>
          <p:cNvSpPr/>
          <p:nvPr/>
        </p:nvSpPr>
        <p:spPr>
          <a:xfrm>
            <a:off x="406311" y="52446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Interactive </a:t>
            </a:r>
            <a:r>
              <a:rPr lang="en-US" sz="2750" dirty="0" err="1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Streamlit</a:t>
            </a: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Prototype</a:t>
            </a:r>
            <a:endParaRPr lang="en-US" sz="2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06521A2-AF15-3013-C751-638878A0CB97}"/>
              </a:ext>
            </a:extLst>
          </p:cNvPr>
          <p:cNvSpPr/>
          <p:nvPr/>
        </p:nvSpPr>
        <p:spPr>
          <a:xfrm>
            <a:off x="6056768" y="106664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Input Layer</a:t>
            </a:r>
            <a:endParaRPr lang="en-US" sz="1350" b="1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43D8507-648C-9CFF-DF41-112732F07433}"/>
              </a:ext>
            </a:extLst>
          </p:cNvPr>
          <p:cNvSpPr/>
          <p:nvPr/>
        </p:nvSpPr>
        <p:spPr>
          <a:xfrm>
            <a:off x="6058106" y="1347609"/>
            <a:ext cx="275741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Ingests structured claim records: CPT codes, billed amounts, Modifier 25 flags, and prior denial history.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73AC9D5-5728-9755-9949-5E50E02C9AEF}"/>
              </a:ext>
            </a:extLst>
          </p:cNvPr>
          <p:cNvSpPr/>
          <p:nvPr/>
        </p:nvSpPr>
        <p:spPr>
          <a:xfrm>
            <a:off x="6056769" y="229534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Interactive Parameters</a:t>
            </a:r>
            <a:endParaRPr lang="en-US" sz="1350" b="1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1786CF9-425B-C5DF-F6FC-9F247FE58A3C}"/>
              </a:ext>
            </a:extLst>
          </p:cNvPr>
          <p:cNvSpPr/>
          <p:nvPr/>
        </p:nvSpPr>
        <p:spPr>
          <a:xfrm>
            <a:off x="6056768" y="2601855"/>
            <a:ext cx="285641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Live threshold slider adjusts decision boundaries in real time, enabling auditors to calibrate sensitivity on the fly.</a:t>
            </a:r>
            <a:endParaRPr lang="en-US" sz="11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696EE33-E4AF-D3AE-AB37-BF0DFE1F9EA7}"/>
              </a:ext>
            </a:extLst>
          </p:cNvPr>
          <p:cNvSpPr/>
          <p:nvPr/>
        </p:nvSpPr>
        <p:spPr>
          <a:xfrm>
            <a:off x="6056768" y="370489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Analytics Visualizations</a:t>
            </a:r>
            <a:endParaRPr lang="en-US" sz="1350" b="1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28B07AB-76E8-5A6C-665C-D7DD98BD437A}"/>
              </a:ext>
            </a:extLst>
          </p:cNvPr>
          <p:cNvSpPr/>
          <p:nvPr/>
        </p:nvSpPr>
        <p:spPr>
          <a:xfrm>
            <a:off x="6056767" y="4011405"/>
            <a:ext cx="300733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importance weights and batch anomaly frequency graphs by CPT category provide transparent, actionable insights.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0D411F-C5D4-7F87-EDC0-3077631BD3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2148" y="4793942"/>
            <a:ext cx="1171852" cy="349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7576295-4C76-42C5-33B7-5AE340555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11" y="1288099"/>
            <a:ext cx="5303286" cy="328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573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49763" y="114270"/>
            <a:ext cx="1183109" cy="215354"/>
          </a:xfrm>
          <a:prstGeom prst="roundRect">
            <a:avLst>
              <a:gd name="adj" fmla="val 22119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34818" y="156760"/>
            <a:ext cx="14701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STRATEGIC VALUE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249763" y="386327"/>
            <a:ext cx="7953204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Maximizing Speed to Value &amp; Operational Impact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4171474" y="1202562"/>
            <a:ext cx="4722763" cy="2777282"/>
          </a:xfrm>
          <a:prstGeom prst="roundRect">
            <a:avLst>
              <a:gd name="adj" fmla="val 2144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76236" y="1207325"/>
            <a:ext cx="2356619" cy="1724099"/>
          </a:xfrm>
          <a:custGeom>
            <a:avLst/>
            <a:gdLst/>
            <a:ahLst/>
            <a:cxnLst/>
            <a:rect l="l" t="t" r="r" b="b"/>
            <a:pathLst>
              <a:path w="2356619" h="1724099">
                <a:moveTo>
                  <a:pt x="49619" y="0"/>
                </a:moveTo>
                <a:lnTo>
                  <a:pt x="2356619" y="0"/>
                </a:lnTo>
                <a:lnTo>
                  <a:pt x="2356619" y="1724099"/>
                </a:lnTo>
                <a:lnTo>
                  <a:pt x="0" y="1724099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17995" y="1349084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317995" y="1655595"/>
            <a:ext cx="207310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High-speed tabular models screen millions of claims without system latency, supporting enterprise-scale adjudication pipelines.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32855" y="1207325"/>
            <a:ext cx="2356619" cy="1724099"/>
          </a:xfrm>
          <a:custGeom>
            <a:avLst/>
            <a:gdLst/>
            <a:ahLst/>
            <a:cxnLst/>
            <a:rect l="l" t="t" r="r" b="b"/>
            <a:pathLst>
              <a:path w="2356619" h="1724099">
                <a:moveTo>
                  <a:pt x="0" y="0"/>
                </a:moveTo>
                <a:lnTo>
                  <a:pt x="2307000" y="0"/>
                </a:lnTo>
                <a:arcTo wR="49619" hR="49619" stAng="16200000" swAng="5400000"/>
                <a:lnTo>
                  <a:pt x="2356619" y="1724099"/>
                </a:lnTo>
                <a:lnTo>
                  <a:pt x="0" y="1724099"/>
                </a:lnTo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32855" y="1207325"/>
            <a:ext cx="19050" cy="1724099"/>
          </a:xfrm>
          <a:prstGeom prst="roundRect">
            <a:avLst>
              <a:gd name="adj" fmla="val 50000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74614" y="1349084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74614" y="1655595"/>
            <a:ext cx="20731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Transparent, SHAP-driven audit summaries build provider trust and reduce unnecessary claim appeals.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76236" y="2931424"/>
            <a:ext cx="4713238" cy="1043657"/>
          </a:xfrm>
          <a:custGeom>
            <a:avLst/>
            <a:gdLst/>
            <a:ahLst/>
            <a:cxnLst/>
            <a:rect l="l" t="t" r="r" b="b"/>
            <a:pathLst>
              <a:path w="4713238" h="1043657">
                <a:moveTo>
                  <a:pt x="0" y="0"/>
                </a:moveTo>
                <a:lnTo>
                  <a:pt x="4713238" y="0"/>
                </a:lnTo>
                <a:lnTo>
                  <a:pt x="4713238" y="994039"/>
                </a:lnTo>
                <a:arcTo wR="49619" hR="49619" stAng="0" swAng="5400000"/>
                <a:lnTo>
                  <a:pt x="49619" y="1043657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176236" y="2931424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17995" y="3073183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Actionable Intelligence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317995" y="3379695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Answers three core audit questions: </a:t>
            </a:r>
            <a:r>
              <a:rPr lang="en-US" sz="11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Is it anomalous? Why is it anomalous? What should the auditor inspect next?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7F5191-97F5-D23F-7120-776CDDB8DC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2148" y="4793942"/>
            <a:ext cx="1171852" cy="349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11,717 Speed Value Royalty-Free Images, Stock Photos &amp; Pictures |  Shutterstock">
            <a:extLst>
              <a:ext uri="{FF2B5EF4-FFF2-40B4-BE49-F238E27FC236}">
                <a16:creationId xmlns:a16="http://schemas.microsoft.com/office/drawing/2014/main" id="{67352744-C76E-C59D-593B-B7C5481339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b="13276"/>
          <a:stretch>
            <a:fillRect/>
          </a:stretch>
        </p:blipFill>
        <p:spPr>
          <a:xfrm>
            <a:off x="136370" y="1030747"/>
            <a:ext cx="3688111" cy="31906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3381</TotalTime>
  <Words>1272</Words>
  <Application>Microsoft Macintosh PowerPoint</Application>
  <PresentationFormat>On-screen Show (16:9)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Kanit Light</vt:lpstr>
      <vt:lpstr>Martel Sans</vt:lpstr>
      <vt:lpstr>Martel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Eshiobomhe Aimofumhe</cp:lastModifiedBy>
  <cp:revision>7</cp:revision>
  <dcterms:created xsi:type="dcterms:W3CDTF">2026-08-11T02:54:52Z</dcterms:created>
  <dcterms:modified xsi:type="dcterms:W3CDTF">2026-08-16T00:28:34Z</dcterms:modified>
</cp:coreProperties>
</file>